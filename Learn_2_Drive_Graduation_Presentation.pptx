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 balance</c:v>
                </c:pt>
              </c:strCache>
            </c:strRef>
          </c:tx>
          <c:spPr>
            <a:ln>
              <a:solidFill>
                <a:srgbClr val="22D3EE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Start</c:v>
                </c:pt>
                <c:pt idx="1">
                  <c:v>Day 0</c:v>
                </c:pt>
                <c:pt idx="2">
                  <c:v>M1</c:v>
                </c:pt>
                <c:pt idx="3">
                  <c:v>M2</c:v>
                </c:pt>
                <c:pt idx="4">
                  <c:v>M3</c:v>
                </c:pt>
                <c:pt idx="5">
                  <c:v>M4</c:v>
                </c:pt>
                <c:pt idx="6">
                  <c:v>M5</c:v>
                </c:pt>
                <c:pt idx="7">
                  <c:v>M6</c:v>
                </c:pt>
                <c:pt idx="8">
                  <c:v>M7</c:v>
                </c:pt>
                <c:pt idx="9">
                  <c:v>M8</c:v>
                </c:pt>
                <c:pt idx="10">
                  <c:v>M9</c:v>
                </c:pt>
                <c:pt idx="11">
                  <c:v>M10</c:v>
                </c:pt>
                <c:pt idx="12">
                  <c:v>M11</c:v>
                </c:pt>
                <c:pt idx="13">
                  <c:v>M12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180000</c:v>
                </c:pt>
                <c:pt idx="1">
                  <c:v>144000</c:v>
                </c:pt>
                <c:pt idx="2">
                  <c:v>112000</c:v>
                </c:pt>
                <c:pt idx="3">
                  <c:v>85000</c:v>
                </c:pt>
                <c:pt idx="4">
                  <c:v>58000</c:v>
                </c:pt>
                <c:pt idx="5">
                  <c:v>37669</c:v>
                </c:pt>
                <c:pt idx="6">
                  <c:v>32362</c:v>
                </c:pt>
                <c:pt idx="7">
                  <c:v>38521</c:v>
                </c:pt>
                <c:pt idx="8">
                  <c:v>22286</c:v>
                </c:pt>
                <c:pt idx="9">
                  <c:v>31531</c:v>
                </c:pt>
                <c:pt idx="10">
                  <c:v>68510</c:v>
                </c:pt>
                <c:pt idx="11">
                  <c:v>140661</c:v>
                </c:pt>
                <c:pt idx="12">
                  <c:v>267025</c:v>
                </c:pt>
                <c:pt idx="13">
                  <c:v>454590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20040"/>
            <a:ext cx="73152" cy="6080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365760"/>
            <a:ext cx="2743200" cy="2743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846320"/>
            <a:ext cx="2194560" cy="21945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12064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438912"/>
            <a:ext cx="1371600" cy="29260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GRADUATION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261872"/>
            <a:ext cx="694944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Aptos"/>
              </a:defRPr>
            </a:pPr>
            <a:r>
              <a:t>Learn 2 Drive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84831"/>
            <a:ext cx="7132320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Aptos"/>
              </a:defRPr>
            </a:pPr>
            <a:r>
              <a:t>A digital platform for driving academy discovery and booking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788920"/>
            <a:ext cx="182880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898648"/>
            <a:ext cx="1499616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Project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118104"/>
            <a:ext cx="149961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2025–2026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611880"/>
            <a:ext cx="149961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BIS Graduation Project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6352" y="2788920"/>
            <a:ext cx="182880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80944" y="2898648"/>
            <a:ext cx="1499616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3118104"/>
            <a:ext cx="149961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1. 2. 3. 4. 5.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0944" y="3611880"/>
            <a:ext cx="149961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Insert final names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2788920"/>
            <a:ext cx="201168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10912" y="2898648"/>
            <a:ext cx="1682496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Supervisors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3118104"/>
            <a:ext cx="168249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IT + Business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0912" y="3611880"/>
            <a:ext cx="168249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Dr. ___________________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1078992"/>
            <a:ext cx="3794760" cy="4389120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1298448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Why this project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1682496"/>
            <a:ext cx="3154680" cy="196596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ts val="1430"/>
              </a:lnSpc>
              <a:defRPr sz="1300">
                <a:solidFill>
                  <a:srgbClr val="CBD5E1"/>
                </a:solidFill>
                <a:latin typeface="Aptos"/>
              </a:defRPr>
            </a:pPr>
            <a:r>
              <a:t>• Centralizes academy discovery in one place</a:t>
            </a:r>
          </a:p>
          <a:p>
            <a:pPr>
              <a:lnSpc>
                <a:spcPts val="1430"/>
              </a:lnSpc>
              <a:defRPr sz="1300">
                <a:solidFill>
                  <a:srgbClr val="CBD5E1"/>
                </a:solidFill>
                <a:latin typeface="Aptos"/>
              </a:defRPr>
            </a:pPr>
            <a:r>
              <a:t>• Replaces manual booking with online flows</a:t>
            </a:r>
          </a:p>
          <a:p>
            <a:pPr>
              <a:lnSpc>
                <a:spcPts val="1430"/>
              </a:lnSpc>
              <a:defRPr sz="1300">
                <a:solidFill>
                  <a:srgbClr val="CBD5E1"/>
                </a:solidFill>
                <a:latin typeface="Aptos"/>
              </a:defRPr>
            </a:pPr>
            <a:r>
              <a:t>• Adds approval, ratings, and transparent comparison</a:t>
            </a:r>
          </a:p>
          <a:p>
            <a:pPr>
              <a:lnSpc>
                <a:spcPts val="1430"/>
              </a:lnSpc>
              <a:defRPr sz="1300">
                <a:solidFill>
                  <a:srgbClr val="CBD5E1"/>
                </a:solidFill>
                <a:latin typeface="Aptos"/>
              </a:defRPr>
            </a:pPr>
            <a:r>
              <a:t>• Supports guest browsing and role-based dashboards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90688" y="3886200"/>
            <a:ext cx="3154680" cy="105156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4059936"/>
            <a:ext cx="2834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Modern defense-ready system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315968"/>
            <a:ext cx="2743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Aptos"/>
              </a:defRPr>
            </a:pPr>
            <a:r>
              <a:t>Dark cyan palette | clean visuals | clear flow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400800"/>
            <a:ext cx="11155680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ptos"/>
              </a:defRPr>
            </a:pPr>
            <a:r>
              <a:t>Learn 2 Drive | BIS Graduation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Aptos"/>
              </a:defRPr>
            </a:pPr>
            <a:r>
              <a:t>1</a:t>
            </a:r>
          </a:p>
        </p:txBody>
      </p:sp>
    </p:spTree>
  </p:cSld>
  <p:transition advClick="1"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20040"/>
            <a:ext cx="73152" cy="6080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365760"/>
            <a:ext cx="2743200" cy="2743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846320"/>
            <a:ext cx="2194560" cy="21945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7548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Agenda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ptos"/>
              </a:defRPr>
            </a:pPr>
            <a:r>
              <a:t>15 content slides covering the project from problem to future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234440"/>
            <a:ext cx="3438144" cy="14173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362456"/>
            <a:ext cx="475488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1344168"/>
            <a:ext cx="2377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2971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Project identity and defense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17136" y="1234440"/>
            <a:ext cx="3438144" cy="14173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1362456"/>
            <a:ext cx="475488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2" y="1344168"/>
            <a:ext cx="2377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Agenda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1783080"/>
            <a:ext cx="2971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Roadmap of the presentation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84464" y="1234440"/>
            <a:ext cx="3438144" cy="14173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0768" y="1362456"/>
            <a:ext cx="475488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344168"/>
            <a:ext cx="2377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Business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1783080"/>
            <a:ext cx="2971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Current market pain points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063240"/>
            <a:ext cx="3438144" cy="14173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6112" y="3191256"/>
            <a:ext cx="475488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3172968"/>
            <a:ext cx="2377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Project Idea &amp;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11880"/>
            <a:ext cx="2971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What the platform solves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17136" y="3063240"/>
            <a:ext cx="3438144" cy="14173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63440" y="3191256"/>
            <a:ext cx="475488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2" y="3172968"/>
            <a:ext cx="2377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Related Works &amp;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3611880"/>
            <a:ext cx="2971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Why Learn 2 Drive is different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4464" y="3063240"/>
            <a:ext cx="3438144" cy="14173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30768" y="3191256"/>
            <a:ext cx="475488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172968"/>
            <a:ext cx="2377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System Features &amp; Users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6" y="3611880"/>
            <a:ext cx="2971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Actors and responsibilities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4892040"/>
            <a:ext cx="3438144" cy="14173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6112" y="5020056"/>
            <a:ext cx="475488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17904" y="5001768"/>
            <a:ext cx="2377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Business Plan Highlights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440680"/>
            <a:ext cx="2971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Go-to-market and value model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17136" y="4892040"/>
            <a:ext cx="3438144" cy="14173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663440" y="5020056"/>
            <a:ext cx="475488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85232" y="5001768"/>
            <a:ext cx="2377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Financial Snapshot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1728" y="5440680"/>
            <a:ext cx="2971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Startup capital and Year 1 outlook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84464" y="4892040"/>
            <a:ext cx="3438144" cy="14173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430768" y="5020056"/>
            <a:ext cx="475488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5001768"/>
            <a:ext cx="2377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System 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49056" y="5440680"/>
            <a:ext cx="2971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Use case and activity flows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9808" y="6720840"/>
            <a:ext cx="3438144" cy="14173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96112" y="6848856"/>
            <a:ext cx="475488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17904" y="6830568"/>
            <a:ext cx="2377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7269480"/>
            <a:ext cx="2971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ERD and database mapping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17136" y="6720840"/>
            <a:ext cx="3438144" cy="14173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663440" y="6848856"/>
            <a:ext cx="475488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85232" y="6830568"/>
            <a:ext cx="2377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Architecture &amp; Tools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81728" y="7269480"/>
            <a:ext cx="2971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Technology stack and layers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84464" y="6720840"/>
            <a:ext cx="3438144" cy="14173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430768" y="6848856"/>
            <a:ext cx="475488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0" y="6830568"/>
            <a:ext cx="2377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Implementation Highlights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49056" y="7269480"/>
            <a:ext cx="2971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Core screens and code parts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49808" y="8549640"/>
            <a:ext cx="3438144" cy="14173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96112" y="8677656"/>
            <a:ext cx="475488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17904" y="8659368"/>
            <a:ext cx="2377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Key Technical Challenges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" y="9098280"/>
            <a:ext cx="2971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Hard parts and solutions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17136" y="8549640"/>
            <a:ext cx="3438144" cy="14173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663440" y="8677656"/>
            <a:ext cx="475488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85232" y="8659368"/>
            <a:ext cx="2377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Testing Results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81728" y="9098280"/>
            <a:ext cx="2971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47/47 test cases passed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84464" y="8549640"/>
            <a:ext cx="3438144" cy="14173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430768" y="8677656"/>
            <a:ext cx="475488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0" y="8659368"/>
            <a:ext cx="2377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Conclusion &amp; Future Work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49056" y="9098280"/>
            <a:ext cx="2971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Summary and next steps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6400800"/>
            <a:ext cx="11155680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6928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ptos"/>
              </a:defRPr>
            </a:pPr>
            <a:r>
              <a:t>Learn 2 Drive | BIS Graduation Project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Aptos"/>
              </a:defRPr>
            </a:pPr>
            <a:r>
              <a:t>2</a:t>
            </a:r>
          </a:p>
        </p:txBody>
      </p:sp>
    </p:spTree>
  </p:cSld>
  <p:transition advClick="1"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20040"/>
            <a:ext cx="73152" cy="6080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365760"/>
            <a:ext cx="2743200" cy="2743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846320"/>
            <a:ext cx="2194560" cy="21945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7548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Business Problem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ptos"/>
              </a:defRPr>
            </a:pPr>
            <a:r>
              <a:t>The report identifies a fragmented, manual market with limited transparency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389888"/>
            <a:ext cx="5532120" cy="4480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20116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Core pain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4983480" cy="32461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ts val="1430"/>
              </a:lnSpc>
              <a:defRPr sz="1300">
                <a:solidFill>
                  <a:srgbClr val="CBD5E1"/>
                </a:solidFill>
                <a:latin typeface="Aptos"/>
              </a:defRPr>
            </a:pPr>
            <a:r>
              <a:t>• Information is scattered across websites, social media, and word-of-mouth.</a:t>
            </a:r>
          </a:p>
          <a:p>
            <a:pPr>
              <a:lnSpc>
                <a:spcPts val="1430"/>
              </a:lnSpc>
              <a:defRPr sz="1300">
                <a:solidFill>
                  <a:srgbClr val="CBD5E1"/>
                </a:solidFill>
                <a:latin typeface="Aptos"/>
              </a:defRPr>
            </a:pPr>
            <a:r>
              <a:t>• Pricing, packages, and instructor quality are often not transparent.</a:t>
            </a:r>
          </a:p>
          <a:p>
            <a:pPr>
              <a:lnSpc>
                <a:spcPts val="1430"/>
              </a:lnSpc>
              <a:defRPr sz="1300">
                <a:solidFill>
                  <a:srgbClr val="CBD5E1"/>
                </a:solidFill>
                <a:latin typeface="Aptos"/>
              </a:defRPr>
            </a:pPr>
            <a:r>
              <a:t>• Booking is still manual and usually requires phone calls or in-person visits.</a:t>
            </a:r>
          </a:p>
          <a:p>
            <a:pPr>
              <a:lnSpc>
                <a:spcPts val="1430"/>
              </a:lnSpc>
              <a:defRPr sz="1300">
                <a:solidFill>
                  <a:srgbClr val="CBD5E1"/>
                </a:solidFill>
                <a:latin typeface="Aptos"/>
              </a:defRPr>
            </a:pPr>
            <a:r>
              <a:t>• Learners with specific needs, such as female instructors, cannot filter easily.</a:t>
            </a:r>
          </a:p>
          <a:p>
            <a:pPr>
              <a:lnSpc>
                <a:spcPts val="1430"/>
              </a:lnSpc>
              <a:defRPr sz="1300">
                <a:solidFill>
                  <a:srgbClr val="CBD5E1"/>
                </a:solidFill>
                <a:latin typeface="Aptos"/>
              </a:defRPr>
            </a:pPr>
            <a:r>
              <a:t>• There is no reliable review layer for comparing academy 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389888"/>
            <a:ext cx="4892040" cy="4480560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572768"/>
            <a:ext cx="2377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Business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874519"/>
            <a:ext cx="2057400" cy="9144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5432" y="1984247"/>
            <a:ext cx="1728216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Transparency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5432" y="2203703"/>
            <a:ext cx="172821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2" y="2697479"/>
            <a:ext cx="172821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Hidden pricing and service quality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874519"/>
            <a:ext cx="2057400" cy="9144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9992" y="1984247"/>
            <a:ext cx="1728216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Booking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2203703"/>
            <a:ext cx="172821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Manual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2697479"/>
            <a:ext cx="172821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Offline, time-consuming process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2926080"/>
            <a:ext cx="2057400" cy="9144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85432" y="3035808"/>
            <a:ext cx="1728216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3255264"/>
            <a:ext cx="172821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Fragmented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2" y="3749040"/>
            <a:ext cx="172821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No central comparison layer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400" y="2926080"/>
            <a:ext cx="2057400" cy="9144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9992" y="3035808"/>
            <a:ext cx="1728216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9992" y="3255264"/>
            <a:ext cx="172821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Missing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3749040"/>
            <a:ext cx="172821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No trust-building review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160520"/>
            <a:ext cx="41605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The platform answers this gap with a centralized marketplace, online booking, filtering, ratings, and approval control.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400800"/>
            <a:ext cx="11155680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ptos"/>
              </a:defRPr>
            </a:pPr>
            <a:r>
              <a:t>Learn 2 Drive | BIS Graduation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Aptos"/>
              </a:defRPr>
            </a:pPr>
            <a:r>
              <a:t>3</a:t>
            </a:r>
          </a:p>
        </p:txBody>
      </p:sp>
    </p:spTree>
  </p:cSld>
  <p:transition advClick="1"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20040"/>
            <a:ext cx="73152" cy="6080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365760"/>
            <a:ext cx="2743200" cy="2743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846320"/>
            <a:ext cx="2194560" cy="21945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7548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Project Idea &amp; Scope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ptos"/>
              </a:defRPr>
            </a:pPr>
            <a:r>
              <a:t>A centralized platform connecting learners, academies, trainers, and administrators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1463040"/>
            <a:ext cx="2743200" cy="13716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627632"/>
            <a:ext cx="475488" cy="47548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45920"/>
            <a:ext cx="475488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1609344"/>
            <a:ext cx="18288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Central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2"/>
            <a:ext cx="2414016" cy="6400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ts val="1210"/>
              </a:lnSpc>
              <a:defRPr sz="1100">
                <a:solidFill>
                  <a:srgbClr val="CBD5E1"/>
                </a:solidFill>
                <a:latin typeface="Aptos"/>
              </a:defRPr>
            </a:pPr>
            <a:r>
              <a:t>Connects driving learners with academies in one online environment.</a:t>
            </a:r>
          </a:p>
          <a:p>
            <a:pPr>
              <a:lnSpc>
                <a:spcPts val="1210"/>
              </a:lnSpc>
              <a:defRPr sz="1100">
                <a:solidFill>
                  <a:srgbClr val="CBD5E1"/>
                </a:solidFill>
                <a:latin typeface="Aptos"/>
              </a:defRPr>
            </a:pPr>
            <a:r>
              <a:t>Supports discovery, comparison, and booking.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85032" y="1463040"/>
            <a:ext cx="2743200" cy="13716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49624" y="1627632"/>
            <a:ext cx="475488" cy="475488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9624" y="1645920"/>
            <a:ext cx="475488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1609344"/>
            <a:ext cx="18288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Guest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9624" y="2084832"/>
            <a:ext cx="2414016" cy="6400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ts val="1210"/>
              </a:lnSpc>
              <a:defRPr sz="1100">
                <a:solidFill>
                  <a:srgbClr val="CBD5E1"/>
                </a:solidFill>
                <a:latin typeface="Aptos"/>
              </a:defRPr>
            </a:pPr>
            <a:r>
              <a:t>Browse academies, trainers, and courses without registration.</a:t>
            </a:r>
          </a:p>
          <a:p>
            <a:pPr>
              <a:lnSpc>
                <a:spcPts val="1210"/>
              </a:lnSpc>
              <a:defRPr sz="1100">
                <a:solidFill>
                  <a:srgbClr val="CBD5E1"/>
                </a:solidFill>
                <a:latin typeface="Aptos"/>
              </a:defRPr>
            </a:pPr>
            <a:r>
              <a:t>Read reviews and filter results before sign-up.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01968" y="1463040"/>
            <a:ext cx="2743200" cy="13716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66560" y="1627632"/>
            <a:ext cx="475488" cy="47548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645920"/>
            <a:ext cx="475488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ptos"/>
              </a:defRPr>
            </a:pPr>
            <a:r>
              <a:t>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0064" y="1609344"/>
            <a:ext cx="18288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Registered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084832"/>
            <a:ext cx="2414016" cy="6400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ts val="1210"/>
              </a:lnSpc>
              <a:defRPr sz="1100">
                <a:solidFill>
                  <a:srgbClr val="CBD5E1"/>
                </a:solidFill>
                <a:latin typeface="Aptos"/>
              </a:defRPr>
            </a:pPr>
            <a:r>
              <a:t>Book and cancel courses online.</a:t>
            </a:r>
          </a:p>
          <a:p>
            <a:pPr>
              <a:lnSpc>
                <a:spcPts val="1210"/>
              </a:lnSpc>
              <a:defRPr sz="1100">
                <a:solidFill>
                  <a:srgbClr val="CBD5E1"/>
                </a:solidFill>
                <a:latin typeface="Aptos"/>
              </a:defRPr>
            </a:pPr>
            <a:r>
              <a:t>Track bookings and submit ratings.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18904" y="1463040"/>
            <a:ext cx="1883664" cy="13716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83496" y="1627632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83496" y="1645920"/>
            <a:ext cx="475488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1609344"/>
            <a:ext cx="969264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Academy/admin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3496" y="2084832"/>
            <a:ext cx="1554480" cy="6400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ts val="1210"/>
              </a:lnSpc>
              <a:defRPr sz="1100">
                <a:solidFill>
                  <a:srgbClr val="CBD5E1"/>
                </a:solidFill>
                <a:latin typeface="Aptos"/>
              </a:defRPr>
            </a:pPr>
            <a:r>
              <a:t>Dashboards, course approval, and oversight.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3127248"/>
            <a:ext cx="10661904" cy="23317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3346704"/>
            <a:ext cx="2743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In-scope capabilities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3675887"/>
            <a:ext cx="9784080" cy="150876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ts val="1430"/>
              </a:lnSpc>
              <a:defRPr sz="1300">
                <a:solidFill>
                  <a:srgbClr val="CBD5E1"/>
                </a:solidFill>
                <a:latin typeface="Aptos"/>
              </a:defRPr>
            </a:pPr>
            <a:r>
              <a:t>• Search, filter, and sort academies and courses</a:t>
            </a:r>
          </a:p>
          <a:p>
            <a:pPr>
              <a:lnSpc>
                <a:spcPts val="1430"/>
              </a:lnSpc>
              <a:defRPr sz="1300">
                <a:solidFill>
                  <a:srgbClr val="CBD5E1"/>
                </a:solidFill>
                <a:latin typeface="Aptos"/>
              </a:defRPr>
            </a:pPr>
            <a:r>
              <a:t>• View academy profiles, trainer profiles, reviews, and ratings</a:t>
            </a:r>
          </a:p>
          <a:p>
            <a:pPr>
              <a:lnSpc>
                <a:spcPts val="1430"/>
              </a:lnSpc>
              <a:defRPr sz="1300">
                <a:solidFill>
                  <a:srgbClr val="CBD5E1"/>
                </a:solidFill>
                <a:latin typeface="Aptos"/>
              </a:defRPr>
            </a:pPr>
            <a:r>
              <a:t>• Manage academy courses and trainers through a dashboard</a:t>
            </a:r>
          </a:p>
          <a:p>
            <a:pPr>
              <a:lnSpc>
                <a:spcPts val="1430"/>
              </a:lnSpc>
              <a:defRPr sz="1300">
                <a:solidFill>
                  <a:srgbClr val="CBD5E1"/>
                </a:solidFill>
                <a:latin typeface="Aptos"/>
              </a:defRPr>
            </a:pPr>
            <a:r>
              <a:t>• Enforce course approval before publication</a:t>
            </a:r>
          </a:p>
          <a:p>
            <a:pPr>
              <a:lnSpc>
                <a:spcPts val="1430"/>
              </a:lnSpc>
              <a:defRPr sz="1300">
                <a:solidFill>
                  <a:srgbClr val="CBD5E1"/>
                </a:solidFill>
                <a:latin typeface="Aptos"/>
              </a:defRPr>
            </a:pPr>
            <a:r>
              <a:t>• Focus on a web-based experience suitable for graduation defense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00800"/>
            <a:ext cx="11155680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ptos"/>
              </a:defRPr>
            </a:pPr>
            <a:r>
              <a:t>Learn 2 Drive | BIS Graduation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Aptos"/>
              </a:defRPr>
            </a:pPr>
            <a:r>
              <a:t>4</a:t>
            </a:r>
          </a:p>
        </p:txBody>
      </p:sp>
    </p:spTree>
  </p:cSld>
  <p:transition advClick="1"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20040"/>
            <a:ext cx="73152" cy="6080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365760"/>
            <a:ext cx="2743200" cy="2743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846320"/>
            <a:ext cx="2194560" cy="21945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7548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Related Works &amp; Gap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ptos"/>
              </a:defRPr>
            </a:pPr>
            <a:r>
              <a:t>The comparison in the report shows a missing centralized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4983480" cy="14630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3566160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Multi-academy marketplace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56232"/>
            <a:ext cx="45720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Learn 2 Drive is the only platform in the comparison matrix that aggregates multiple academies.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545336"/>
            <a:ext cx="749808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Gap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4983480" cy="1463040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27048"/>
            <a:ext cx="3566160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Online booking + dashboards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56232"/>
            <a:ext cx="45720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Several tools support booking, but they do not combine academy dashboards, approval, and review controls.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7000" y="1545336"/>
            <a:ext cx="749808" cy="29260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Limit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200400"/>
            <a:ext cx="4983480" cy="1463040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310128"/>
            <a:ext cx="3566160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Search and preference filters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39312"/>
            <a:ext cx="45720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Most alternatives are limited to either basic booking or theoretical learning.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3328416"/>
            <a:ext cx="749808" cy="29260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Limit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200400"/>
            <a:ext cx="4983480" cy="14630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310128"/>
            <a:ext cx="3566160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Transparent quality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639312"/>
            <a:ext cx="45720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The platform adds ratings, reviews, and a course approval workflow that others lack.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7000" y="3328416"/>
            <a:ext cx="749808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413248"/>
            <a:ext cx="102412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Result: Learn 2 Drive combines centralized discovery, online booking, academy management, review/rating visibility, and admin approval in a single platform.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00800"/>
            <a:ext cx="11155680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ptos"/>
              </a:defRPr>
            </a:pPr>
            <a:r>
              <a:t>Learn 2 Drive | BIS Graduation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Aptos"/>
              </a:defRPr>
            </a:pPr>
            <a:r>
              <a:t>5</a:t>
            </a:r>
          </a:p>
        </p:txBody>
      </p:sp>
    </p:spTree>
  </p:cSld>
  <p:transition advClick="1"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20040"/>
            <a:ext cx="73152" cy="6080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365760"/>
            <a:ext cx="2743200" cy="2743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846320"/>
            <a:ext cx="2194560" cy="21945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7548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System Features &amp; Users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ptos"/>
              </a:defRPr>
            </a:pPr>
            <a:r>
              <a:t>Four actors, each with a tailored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1353312"/>
            <a:ext cx="2560320" cy="19202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517904"/>
            <a:ext cx="475488" cy="47548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475488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1499616"/>
            <a:ext cx="1645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Guests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75104"/>
            <a:ext cx="2231136" cy="11887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ts val="1210"/>
              </a:lnSpc>
              <a:defRPr sz="1100">
                <a:solidFill>
                  <a:srgbClr val="CBD5E1"/>
                </a:solidFill>
                <a:latin typeface="Aptos"/>
              </a:defRPr>
            </a:pPr>
            <a:r>
              <a:t>Browse academies and courses</a:t>
            </a:r>
          </a:p>
          <a:p>
            <a:pPr>
              <a:lnSpc>
                <a:spcPts val="1210"/>
              </a:lnSpc>
              <a:defRPr sz="1100">
                <a:solidFill>
                  <a:srgbClr val="CBD5E1"/>
                </a:solidFill>
                <a:latin typeface="Aptos"/>
              </a:defRPr>
            </a:pPr>
            <a:r>
              <a:t>Open academy and trainer pages</a:t>
            </a:r>
          </a:p>
          <a:p>
            <a:pPr>
              <a:lnSpc>
                <a:spcPts val="1210"/>
              </a:lnSpc>
              <a:defRPr sz="1100">
                <a:solidFill>
                  <a:srgbClr val="CBD5E1"/>
                </a:solidFill>
                <a:latin typeface="Aptos"/>
              </a:defRPr>
            </a:pPr>
            <a:r>
              <a:t>Read ratings and reviews</a:t>
            </a:r>
          </a:p>
          <a:p>
            <a:pPr>
              <a:lnSpc>
                <a:spcPts val="1210"/>
              </a:lnSpc>
              <a:defRPr sz="1100">
                <a:solidFill>
                  <a:srgbClr val="CBD5E1"/>
                </a:solidFill>
                <a:latin typeface="Aptos"/>
              </a:defRPr>
            </a:pPr>
            <a:r>
              <a:t>Search and filter without login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353312"/>
            <a:ext cx="2560320" cy="19202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85032" y="1517904"/>
            <a:ext cx="475488" cy="475488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1536192"/>
            <a:ext cx="475488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ptos"/>
              </a:defRPr>
            </a:pPr>
            <a:r>
              <a:t>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8536" y="1499616"/>
            <a:ext cx="1645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Registered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1975104"/>
            <a:ext cx="2231136" cy="11887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ts val="1210"/>
              </a:lnSpc>
              <a:defRPr sz="1100">
                <a:solidFill>
                  <a:srgbClr val="CBD5E1"/>
                </a:solidFill>
                <a:latin typeface="Aptos"/>
              </a:defRPr>
            </a:pPr>
            <a:r>
              <a:t>Book and cancel courses</a:t>
            </a:r>
          </a:p>
          <a:p>
            <a:pPr>
              <a:lnSpc>
                <a:spcPts val="1210"/>
              </a:lnSpc>
              <a:defRPr sz="1100">
                <a:solidFill>
                  <a:srgbClr val="CBD5E1"/>
                </a:solidFill>
                <a:latin typeface="Aptos"/>
              </a:defRPr>
            </a:pPr>
            <a:r>
              <a:t>View booking history</a:t>
            </a:r>
          </a:p>
          <a:p>
            <a:pPr>
              <a:lnSpc>
                <a:spcPts val="1210"/>
              </a:lnSpc>
              <a:defRPr sz="1100">
                <a:solidFill>
                  <a:srgbClr val="CBD5E1"/>
                </a:solidFill>
                <a:latin typeface="Aptos"/>
              </a:defRPr>
            </a:pPr>
            <a:r>
              <a:t>Submit ratings and reviews</a:t>
            </a:r>
          </a:p>
          <a:p>
            <a:pPr>
              <a:lnSpc>
                <a:spcPts val="1210"/>
              </a:lnSpc>
              <a:defRPr sz="1100">
                <a:solidFill>
                  <a:srgbClr val="CBD5E1"/>
                </a:solidFill>
                <a:latin typeface="Aptos"/>
              </a:defRPr>
            </a:pPr>
            <a:r>
              <a:t>Manage profile information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353312"/>
            <a:ext cx="2560320" cy="19202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37376" y="1517904"/>
            <a:ext cx="475488" cy="47548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1536192"/>
            <a:ext cx="475488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1499616"/>
            <a:ext cx="1645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Academies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1975104"/>
            <a:ext cx="2231136" cy="11887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ts val="1210"/>
              </a:lnSpc>
              <a:defRPr sz="1100">
                <a:solidFill>
                  <a:srgbClr val="CBD5E1"/>
                </a:solidFill>
                <a:latin typeface="Aptos"/>
              </a:defRPr>
            </a:pPr>
            <a:r>
              <a:t>Manage dashboards, courses, trainers</a:t>
            </a:r>
          </a:p>
          <a:p>
            <a:pPr>
              <a:lnSpc>
                <a:spcPts val="1210"/>
              </a:lnSpc>
              <a:defRPr sz="1100">
                <a:solidFill>
                  <a:srgbClr val="CBD5E1"/>
                </a:solidFill>
                <a:latin typeface="Aptos"/>
              </a:defRPr>
            </a:pPr>
            <a:r>
              <a:t>Review bookings and feedback</a:t>
            </a:r>
          </a:p>
          <a:p>
            <a:pPr>
              <a:lnSpc>
                <a:spcPts val="1210"/>
              </a:lnSpc>
              <a:defRPr sz="1100">
                <a:solidFill>
                  <a:srgbClr val="CBD5E1"/>
                </a:solidFill>
                <a:latin typeface="Aptos"/>
              </a:defRPr>
            </a:pPr>
            <a:r>
              <a:t>Submit new courses for approval</a:t>
            </a:r>
          </a:p>
          <a:p>
            <a:pPr>
              <a:lnSpc>
                <a:spcPts val="1210"/>
              </a:lnSpc>
              <a:defRPr sz="1100">
                <a:solidFill>
                  <a:srgbClr val="CBD5E1"/>
                </a:solidFill>
                <a:latin typeface="Aptos"/>
              </a:defRPr>
            </a:pPr>
            <a:r>
              <a:t>Monitor public profile visibility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5128" y="1353312"/>
            <a:ext cx="2340864" cy="19202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89720" y="151790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536192"/>
            <a:ext cx="475488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3224" y="1499616"/>
            <a:ext cx="1426464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Administrators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1975104"/>
            <a:ext cx="2011680" cy="11887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ts val="1210"/>
              </a:lnSpc>
              <a:defRPr sz="1100">
                <a:solidFill>
                  <a:srgbClr val="CBD5E1"/>
                </a:solidFill>
                <a:latin typeface="Aptos"/>
              </a:defRPr>
            </a:pPr>
            <a:r>
              <a:t>Approve or reject courses</a:t>
            </a:r>
          </a:p>
          <a:p>
            <a:pPr>
              <a:lnSpc>
                <a:spcPts val="1210"/>
              </a:lnSpc>
              <a:defRPr sz="1100">
                <a:solidFill>
                  <a:srgbClr val="CBD5E1"/>
                </a:solidFill>
                <a:latin typeface="Aptos"/>
              </a:defRPr>
            </a:pPr>
            <a:r>
              <a:t>Manage users and academies</a:t>
            </a:r>
          </a:p>
          <a:p>
            <a:pPr>
              <a:lnSpc>
                <a:spcPts val="1210"/>
              </a:lnSpc>
              <a:defRPr sz="1100">
                <a:solidFill>
                  <a:srgbClr val="CBD5E1"/>
                </a:solidFill>
                <a:latin typeface="Aptos"/>
              </a:defRPr>
            </a:pPr>
            <a:r>
              <a:t>Delete inappropriate reviews</a:t>
            </a:r>
          </a:p>
          <a:p>
            <a:pPr>
              <a:lnSpc>
                <a:spcPts val="1210"/>
              </a:lnSpc>
              <a:defRPr sz="1100">
                <a:solidFill>
                  <a:srgbClr val="CBD5E1"/>
                </a:solidFill>
                <a:latin typeface="Aptos"/>
              </a:defRPr>
            </a:pPr>
            <a:r>
              <a:t>Oversee platform reports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3703320"/>
            <a:ext cx="10607040" cy="16916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913632"/>
            <a:ext cx="25603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User journey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" y="4315968"/>
            <a:ext cx="1417320" cy="34747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Guest browse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86584" y="4489704"/>
            <a:ext cx="182880" cy="0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642616" y="4315968"/>
            <a:ext cx="1417320" cy="3474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Aptos"/>
              </a:defRPr>
            </a:pPr>
            <a:r>
              <a:t>Register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069080" y="4489704"/>
            <a:ext cx="182880" cy="0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325112" y="4315968"/>
            <a:ext cx="1417320" cy="34747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Book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51576" y="4489704"/>
            <a:ext cx="182880" cy="0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007608" y="4315968"/>
            <a:ext cx="1417320" cy="3474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Aptos"/>
              </a:defRPr>
            </a:pPr>
            <a:r>
              <a:t>Review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434072" y="4489704"/>
            <a:ext cx="182880" cy="0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690104" y="4315968"/>
            <a:ext cx="1417320" cy="34747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Academy manage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6568" y="4489704"/>
            <a:ext cx="182880" cy="0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372600" y="4315968"/>
            <a:ext cx="1417320" cy="3474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Aptos"/>
              </a:defRPr>
            </a:pPr>
            <a:r>
              <a:t>Admin approve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400800"/>
            <a:ext cx="11155680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ptos"/>
              </a:defRPr>
            </a:pPr>
            <a:r>
              <a:t>Learn 2 Drive | BIS Graduation Project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Aptos"/>
              </a:defRPr>
            </a:pPr>
            <a:r>
              <a:t>6</a:t>
            </a:r>
          </a:p>
        </p:txBody>
      </p:sp>
    </p:spTree>
  </p:cSld>
  <p:transition advClick="1"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20040"/>
            <a:ext cx="73152" cy="6080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365760"/>
            <a:ext cx="2743200" cy="2743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846320"/>
            <a:ext cx="2194560" cy="21945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7548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Business Plan Highlights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ptos"/>
              </a:defRPr>
            </a:pPr>
            <a:r>
              <a:t>The report frames the platform as a scalable marketplace with a clear launch 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417320"/>
            <a:ext cx="224028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527048"/>
            <a:ext cx="1911096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Market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746504"/>
            <a:ext cx="191109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Cairo + Giza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40280"/>
            <a:ext cx="191109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Year 1 target region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417320"/>
            <a:ext cx="224028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527048"/>
            <a:ext cx="1911096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Target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746504"/>
            <a:ext cx="191109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175 academies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2240280"/>
            <a:ext cx="191109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Conservative addressable market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14416" y="1417320"/>
            <a:ext cx="224028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79008" y="1527048"/>
            <a:ext cx="1911096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Revenue mix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9008" y="1746504"/>
            <a:ext cx="191109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Subs + fees + 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8" y="2240280"/>
            <a:ext cx="191109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Diversified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1417320"/>
            <a:ext cx="224028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3023" y="1527048"/>
            <a:ext cx="1911096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Go-to-market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3" y="1746504"/>
            <a:ext cx="191109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BD + SEO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3" y="2240280"/>
            <a:ext cx="191109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Outreach-led growth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" y="2761488"/>
            <a:ext cx="5394960" cy="27889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2953512"/>
            <a:ext cx="25603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Value proposition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3319272"/>
            <a:ext cx="4663440" cy="19202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ts val="1375"/>
              </a:lnSpc>
              <a:defRPr sz="1250">
                <a:solidFill>
                  <a:srgbClr val="CBD5E1"/>
                </a:solidFill>
                <a:latin typeface="Aptos"/>
              </a:defRPr>
            </a:pPr>
            <a:r>
              <a:t>• One digital place to discover and compare academies</a:t>
            </a:r>
          </a:p>
          <a:p>
            <a:pPr>
              <a:lnSpc>
                <a:spcPts val="1375"/>
              </a:lnSpc>
              <a:defRPr sz="1250">
                <a:solidFill>
                  <a:srgbClr val="CBD5E1"/>
                </a:solidFill>
                <a:latin typeface="Aptos"/>
              </a:defRPr>
            </a:pPr>
            <a:r>
              <a:t>• Guests can browse without registration, lowering adoption friction</a:t>
            </a:r>
          </a:p>
          <a:p>
            <a:pPr>
              <a:lnSpc>
                <a:spcPts val="1375"/>
              </a:lnSpc>
              <a:defRPr sz="1250">
                <a:solidFill>
                  <a:srgbClr val="CBD5E1"/>
                </a:solidFill>
                <a:latin typeface="Aptos"/>
              </a:defRPr>
            </a:pPr>
            <a:r>
              <a:t>• Quality control is enforced through course approval</a:t>
            </a:r>
          </a:p>
          <a:p>
            <a:pPr>
              <a:lnSpc>
                <a:spcPts val="1375"/>
              </a:lnSpc>
              <a:defRPr sz="1250">
                <a:solidFill>
                  <a:srgbClr val="CBD5E1"/>
                </a:solidFill>
                <a:latin typeface="Aptos"/>
              </a:defRPr>
            </a:pPr>
            <a:r>
              <a:t>• Academies gain a managed dashboard and structured promotion channel</a:t>
            </a:r>
          </a:p>
          <a:p>
            <a:pPr>
              <a:lnSpc>
                <a:spcPts val="1375"/>
              </a:lnSpc>
              <a:defRPr sz="1250">
                <a:solidFill>
                  <a:srgbClr val="CBD5E1"/>
                </a:solidFill>
                <a:latin typeface="Aptos"/>
              </a:defRPr>
            </a:pPr>
            <a:r>
              <a:t>• Learners gain trust through reviews, ratings, and filters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19088" y="2761488"/>
            <a:ext cx="4800600" cy="2788920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2953512"/>
            <a:ext cx="25603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Business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319272"/>
            <a:ext cx="4297680" cy="1874519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ts val="1375"/>
              </a:lnSpc>
              <a:defRPr sz="1250">
                <a:solidFill>
                  <a:srgbClr val="CBD5E1"/>
                </a:solidFill>
                <a:latin typeface="Aptos"/>
              </a:defRPr>
            </a:pPr>
            <a:r>
              <a:t>• Subscriptions from paying academies</a:t>
            </a:r>
          </a:p>
          <a:p>
            <a:pPr>
              <a:lnSpc>
                <a:spcPts val="1375"/>
              </a:lnSpc>
              <a:defRPr sz="1250">
                <a:solidFill>
                  <a:srgbClr val="CBD5E1"/>
                </a:solidFill>
                <a:latin typeface="Aptos"/>
              </a:defRPr>
            </a:pPr>
            <a:r>
              <a:t>• Booking commission from active reservations</a:t>
            </a:r>
          </a:p>
          <a:p>
            <a:pPr>
              <a:lnSpc>
                <a:spcPts val="1375"/>
              </a:lnSpc>
              <a:defRPr sz="1250">
                <a:solidFill>
                  <a:srgbClr val="CBD5E1"/>
                </a:solidFill>
                <a:latin typeface="Aptos"/>
              </a:defRPr>
            </a:pPr>
            <a:r>
              <a:t>• Secondary advertising revenue stream</a:t>
            </a:r>
          </a:p>
          <a:p>
            <a:pPr>
              <a:lnSpc>
                <a:spcPts val="1375"/>
              </a:lnSpc>
              <a:defRPr sz="1250">
                <a:solidFill>
                  <a:srgbClr val="CBD5E1"/>
                </a:solidFill>
                <a:latin typeface="Aptos"/>
              </a:defRPr>
            </a:pPr>
            <a:r>
              <a:t>• Phase-based hiring and sales outreach</a:t>
            </a:r>
          </a:p>
          <a:p>
            <a:pPr>
              <a:lnSpc>
                <a:spcPts val="1375"/>
              </a:lnSpc>
              <a:defRPr sz="1250">
                <a:solidFill>
                  <a:srgbClr val="CBD5E1"/>
                </a:solidFill>
                <a:latin typeface="Aptos"/>
              </a:defRPr>
            </a:pPr>
            <a:r>
              <a:t>• Clear path to scale after launch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400800"/>
            <a:ext cx="11155680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ptos"/>
              </a:defRPr>
            </a:pPr>
            <a:r>
              <a:t>Learn 2 Drive | BIS Graduation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Aptos"/>
              </a:defRPr>
            </a:pPr>
            <a:r>
              <a:t>7</a:t>
            </a:r>
          </a:p>
        </p:txBody>
      </p:sp>
    </p:spTree>
  </p:cSld>
  <p:transition advClick="1"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20040"/>
            <a:ext cx="73152" cy="6080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365760"/>
            <a:ext cx="2743200" cy="2743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846320"/>
            <a:ext cx="2194560" cy="21945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7548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Financial Snapshot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ptos"/>
              </a:defRPr>
            </a:pPr>
            <a:r>
              <a:t>Key values from the report's startup capital and Year 1 projection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389888"/>
            <a:ext cx="2148840" cy="987552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499616"/>
            <a:ext cx="1819656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Startup capital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719072"/>
            <a:ext cx="181965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EGP 180,000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12848"/>
            <a:ext cx="181965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Fully funded by founders and family loan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27248" y="1389888"/>
            <a:ext cx="2148840" cy="987552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499616"/>
            <a:ext cx="1819656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Year 1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719072"/>
            <a:ext cx="181965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EGP 1,039,750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212848"/>
            <a:ext cx="181965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Subscriptions, commissions, ads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8112" y="1389888"/>
            <a:ext cx="2148840" cy="987552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32704" y="1499616"/>
            <a:ext cx="1819656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Year 1 profit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32704" y="1719072"/>
            <a:ext cx="181965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EGP 63,570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2704" y="2212848"/>
            <a:ext cx="181965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Cumulative P&amp;L break-even by Month 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08975" y="1389888"/>
            <a:ext cx="2148840" cy="987552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73567" y="1499616"/>
            <a:ext cx="1819656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Monthly break-even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7" y="1719072"/>
            <a:ext cx="181965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Month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7" y="2212848"/>
            <a:ext cx="181965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First profitable month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389888"/>
            <a:ext cx="987552" cy="987552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14432" y="1499616"/>
            <a:ext cx="658368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0314432" y="1719072"/>
            <a:ext cx="658368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14432" y="2212848"/>
            <a:ext cx="658368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paying academies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" y="2606040"/>
            <a:ext cx="6400800" cy="3337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2788920"/>
            <a:ext cx="25603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Cash balance trajectory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932688" y="3063240"/>
          <a:ext cx="59436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7424927" y="2606040"/>
            <a:ext cx="3703320" cy="3337560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40" y="2788920"/>
            <a:ext cx="2377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Profitability notes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3127248"/>
            <a:ext cx="3246120" cy="23774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ts val="1353"/>
              </a:lnSpc>
              <a:defRPr sz="1230">
                <a:solidFill>
                  <a:srgbClr val="CBD5E1"/>
                </a:solidFill>
                <a:latin typeface="Aptos"/>
              </a:defRPr>
            </a:pPr>
            <a:r>
              <a:t>• First monthly profit appears in Month 8</a:t>
            </a:r>
          </a:p>
          <a:p>
            <a:pPr>
              <a:lnSpc>
                <a:spcPts val="1353"/>
              </a:lnSpc>
              <a:defRPr sz="1230">
                <a:solidFill>
                  <a:srgbClr val="CBD5E1"/>
                </a:solidFill>
                <a:latin typeface="Aptos"/>
              </a:defRPr>
            </a:pPr>
            <a:r>
              <a:t>• Year 1 cumulative break-even is reached in Month 12</a:t>
            </a:r>
          </a:p>
          <a:p>
            <a:pPr>
              <a:lnSpc>
                <a:spcPts val="1353"/>
              </a:lnSpc>
              <a:defRPr sz="1230">
                <a:solidFill>
                  <a:srgbClr val="CBD5E1"/>
                </a:solidFill>
                <a:latin typeface="Aptos"/>
              </a:defRPr>
            </a:pPr>
            <a:r>
              <a:t>• Cash balance bottoms at EGP 22,286 in Month 7</a:t>
            </a:r>
          </a:p>
          <a:p>
            <a:pPr>
              <a:lnSpc>
                <a:spcPts val="1353"/>
              </a:lnSpc>
              <a:defRPr sz="1230">
                <a:solidFill>
                  <a:srgbClr val="CBD5E1"/>
                </a:solidFill>
                <a:latin typeface="Aptos"/>
              </a:defRPr>
            </a:pPr>
            <a:r>
              <a:t>• Year 1 includes EGP 247,020 non-cash deferred salary</a:t>
            </a:r>
          </a:p>
          <a:p>
            <a:pPr>
              <a:lnSpc>
                <a:spcPts val="1353"/>
              </a:lnSpc>
              <a:defRPr sz="1230">
                <a:solidFill>
                  <a:srgbClr val="CBD5E1"/>
                </a:solidFill>
                <a:latin typeface="Aptos"/>
              </a:defRPr>
            </a:pPr>
            <a:r>
              <a:t>• Funding is conservative and based on a phased launch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400800"/>
            <a:ext cx="11155680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ptos"/>
              </a:defRPr>
            </a:pPr>
            <a:r>
              <a:t>Learn 2 Drive | BIS Graduation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Aptos"/>
              </a:defRPr>
            </a:pPr>
            <a:r>
              <a:t>8</a:t>
            </a:r>
          </a:p>
        </p:txBody>
      </p:sp>
    </p:spTree>
  </p:cSld>
  <p:transition advClick="1" spd="med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20040"/>
            <a:ext cx="73152" cy="6080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365760"/>
            <a:ext cx="2743200" cy="2743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846320"/>
            <a:ext cx="2194560" cy="21945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7548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System Analysis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ptos"/>
              </a:defRPr>
            </a:pPr>
            <a:r>
              <a:t>Use case and activity logic summarized as a defense-friendly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1371600"/>
            <a:ext cx="3840480" cy="46177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81912"/>
            <a:ext cx="18288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Use case view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1901952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29384"/>
            <a:ext cx="292608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92808"/>
            <a:ext cx="18288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Guest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30552"/>
            <a:ext cx="22402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ptos"/>
              </a:defRPr>
            </a:pPr>
            <a:r>
              <a:t>browse, filter, read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706624"/>
            <a:ext cx="384048" cy="384048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734056"/>
            <a:ext cx="292608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97480"/>
            <a:ext cx="18288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Registered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35224"/>
            <a:ext cx="22402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ptos"/>
              </a:defRPr>
            </a:pPr>
            <a:r>
              <a:t>book, cancel, rate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3511296"/>
            <a:ext cx="384048" cy="38404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538727"/>
            <a:ext cx="292608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3502152"/>
            <a:ext cx="18288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Academy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3739896"/>
            <a:ext cx="22402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ptos"/>
              </a:defRPr>
            </a:pPr>
            <a:r>
              <a:t>manage content, trainers</a:t>
            </a:r>
          </a:p>
        </p:txBody>
      </p:sp>
      <p:sp>
        <p:nvSpPr>
          <p:cNvPr id="21" name="Oval 20"/>
          <p:cNvSpPr/>
          <p:nvPr/>
        </p:nvSpPr>
        <p:spPr>
          <a:xfrm>
            <a:off x="960120" y="4315968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343400"/>
            <a:ext cx="292608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306824"/>
            <a:ext cx="18288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544568"/>
            <a:ext cx="22402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ptos"/>
              </a:defRPr>
            </a:pPr>
            <a:r>
              <a:t>approve, monitor, moderate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64608" y="1371600"/>
            <a:ext cx="6236208" cy="4617720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1581912"/>
            <a:ext cx="219456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Activity flow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1920240"/>
            <a:ext cx="5303520" cy="5303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285232" y="2039112"/>
            <a:ext cx="658368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BRO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1975104"/>
            <a:ext cx="201168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Aptos"/>
              </a:defRPr>
            </a:pPr>
            <a:r>
              <a:t>Browse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1975104"/>
            <a:ext cx="2834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40" b="0">
                <a:solidFill>
                  <a:srgbClr val="CBD5E1"/>
                </a:solidFill>
                <a:latin typeface="Aptos"/>
              </a:defRPr>
            </a:pPr>
            <a:r>
              <a:t>Academies and courses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26679" y="2468880"/>
            <a:ext cx="0" cy="118872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120640" y="2642616"/>
            <a:ext cx="5303520" cy="53035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285232" y="2761488"/>
            <a:ext cx="658368" cy="29260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FIL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697480"/>
            <a:ext cx="201168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Aptos"/>
              </a:defRPr>
            </a:pPr>
            <a:r>
              <a:t>Filter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2697480"/>
            <a:ext cx="2834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40" b="0">
                <a:solidFill>
                  <a:srgbClr val="CBD5E1"/>
                </a:solidFill>
                <a:latin typeface="Aptos"/>
              </a:defRPr>
            </a:pPr>
            <a:r>
              <a:t>By location, price, rating, gender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26679" y="3191256"/>
            <a:ext cx="0" cy="118872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120640" y="3364992"/>
            <a:ext cx="5303520" cy="5303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285232" y="3483864"/>
            <a:ext cx="658368" cy="29260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BOO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3419856"/>
            <a:ext cx="201168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Aptos"/>
              </a:defRPr>
            </a:pPr>
            <a:r>
              <a:t>Book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3419856"/>
            <a:ext cx="2834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40" b="0">
                <a:solidFill>
                  <a:srgbClr val="CBD5E1"/>
                </a:solidFill>
                <a:latin typeface="Aptos"/>
              </a:defRPr>
            </a:pPr>
            <a:r>
              <a:t>Choose trainer, date, and time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726679" y="3913632"/>
            <a:ext cx="0" cy="118872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5120640" y="4087368"/>
            <a:ext cx="5303520" cy="53035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285232" y="4206240"/>
            <a:ext cx="658368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APP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4142232"/>
            <a:ext cx="201168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Aptos"/>
              </a:defRPr>
            </a:pPr>
            <a:r>
              <a:t>Approve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4142232"/>
            <a:ext cx="2834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40" b="0">
                <a:solidFill>
                  <a:srgbClr val="CBD5E1"/>
                </a:solidFill>
                <a:latin typeface="Aptos"/>
              </a:defRPr>
            </a:pPr>
            <a:r>
              <a:t>Admin reviews academy course request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726679" y="4636008"/>
            <a:ext cx="0" cy="118872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5120640" y="4809744"/>
            <a:ext cx="5303520" cy="5303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285232" y="4928616"/>
            <a:ext cx="658368" cy="292608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REV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4864607"/>
            <a:ext cx="201168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4864607"/>
            <a:ext cx="2834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40" b="0">
                <a:solidFill>
                  <a:srgbClr val="CBD5E1"/>
                </a:solidFill>
                <a:latin typeface="Aptos"/>
              </a:defRPr>
            </a:pPr>
            <a:r>
              <a:t>User rates the completed experience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6400800"/>
            <a:ext cx="11155680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ptos"/>
              </a:defRPr>
            </a:pPr>
            <a:r>
              <a:t>Learn 2 Drive | BIS Graduation Project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Aptos"/>
              </a:defRPr>
            </a:pPr>
            <a:r>
              <a:t>9</a:t>
            </a:r>
          </a:p>
        </p:txBody>
      </p:sp>
    </p:spTree>
  </p:cSld>
  <p:transition advClick="1" spd="med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20040"/>
            <a:ext cx="73152" cy="6080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365760"/>
            <a:ext cx="2743200" cy="2743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846320"/>
            <a:ext cx="2194560" cy="21945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7548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System Design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ptos"/>
              </a:defRPr>
            </a:pPr>
            <a:r>
              <a:t>A simplified ERD and database mapping for the main entities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1325880"/>
            <a:ext cx="11064240" cy="46634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554480"/>
            <a:ext cx="2743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Core entities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74519"/>
            <a:ext cx="1234440" cy="56692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148840"/>
            <a:ext cx="1234440" cy="56692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Aptos"/>
              </a:defRPr>
            </a:pPr>
            <a:r>
              <a:t>Academy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886200"/>
            <a:ext cx="1234440" cy="56692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Aptos"/>
              </a:defRPr>
            </a:pPr>
            <a:r>
              <a:t>Trainer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3977639"/>
            <a:ext cx="1234440" cy="5669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Aptos"/>
              </a:defRPr>
            </a:pPr>
            <a:r>
              <a:t>Course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246120"/>
            <a:ext cx="1234440" cy="566928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Aptos"/>
              </a:defRPr>
            </a:pPr>
            <a:r>
              <a:t>Booking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06440" y="2377440"/>
            <a:ext cx="594360" cy="822960"/>
          </a:xfrm>
          <a:prstGeom prst="line">
            <a:avLst/>
          </a:prstGeom>
          <a:ln w="15875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537959" y="2697480"/>
            <a:ext cx="1005841" cy="640080"/>
          </a:xfrm>
          <a:prstGeom prst="line">
            <a:avLst/>
          </a:prstGeom>
          <a:ln w="15875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897880" y="3566160"/>
            <a:ext cx="301752" cy="320040"/>
          </a:xfrm>
          <a:prstGeom prst="line">
            <a:avLst/>
          </a:prstGeom>
          <a:ln w="15875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6583680" y="3611880"/>
            <a:ext cx="960120" cy="640080"/>
          </a:xfrm>
          <a:prstGeom prst="line">
            <a:avLst/>
          </a:prstGeom>
          <a:ln w="15875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0120" y="1783080"/>
            <a:ext cx="4480560" cy="987552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" y="1874520"/>
            <a:ext cx="18288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Aptos"/>
              </a:defRPr>
            </a:pPr>
            <a:r>
              <a:t>Many-to-many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" y="2130552"/>
            <a:ext cx="393192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Academy ↔ Location / Course ↔ Trainer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783080"/>
            <a:ext cx="4480560" cy="987552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1874520"/>
            <a:ext cx="18288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Aptos"/>
              </a:defRPr>
            </a:pPr>
            <a:r>
              <a:t>One-to-many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2130552"/>
            <a:ext cx="393192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Academy → Trainers / Courses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3172968"/>
            <a:ext cx="4480560" cy="987552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4712" y="3264408"/>
            <a:ext cx="18288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Aptos"/>
              </a:defRPr>
            </a:pPr>
            <a:r>
              <a:t>Booking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" y="3520440"/>
            <a:ext cx="393192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Unique confirmed slot per trainer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172968"/>
            <a:ext cx="4480560" cy="987552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3264408"/>
            <a:ext cx="18288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Aptos"/>
              </a:defRPr>
            </a:pPr>
            <a:r>
              <a:t>Content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3520440"/>
            <a:ext cx="393192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Generic ratings and reviews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00800"/>
            <a:ext cx="11155680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ptos"/>
              </a:defRPr>
            </a:pPr>
            <a:r>
              <a:t>Learn 2 Drive | BIS Graduation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Aptos"/>
              </a:defRPr>
            </a:pPr>
            <a:r>
              <a:t>10</a:t>
            </a:r>
          </a:p>
        </p:txBody>
      </p:sp>
    </p:spTree>
  </p:cSld>
  <p:transition advClick="1" spd="med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20040"/>
            <a:ext cx="73152" cy="6080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365760"/>
            <a:ext cx="2743200" cy="2743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846320"/>
            <a:ext cx="2194560" cy="21945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7548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System Architecture &amp; Tools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ptos"/>
              </a:defRPr>
            </a:pPr>
            <a:r>
              <a:t>Client-server architecture with Django REST, React, JWT, and SQLite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325880"/>
            <a:ext cx="6400800" cy="10972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1560" y="1508760"/>
            <a:ext cx="914400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435608"/>
            <a:ext cx="43891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React.js + Tailwind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737360"/>
            <a:ext cx="43891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ptos"/>
              </a:defRPr>
            </a:pPr>
            <a:r>
              <a:t>User interface and responsive pages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88920"/>
            <a:ext cx="6400800" cy="1097280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2971800"/>
            <a:ext cx="914400" cy="29260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API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898648"/>
            <a:ext cx="43891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Django REST Framework + JWT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3200400"/>
            <a:ext cx="43891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ptos"/>
              </a:defRPr>
            </a:pPr>
            <a:r>
              <a:t>Protected endpoints and business 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51960"/>
            <a:ext cx="6400800" cy="10972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51560" y="4434840"/>
            <a:ext cx="914400" cy="29260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Data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4361688"/>
            <a:ext cx="43891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SQLite + media + SMTP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4663440"/>
            <a:ext cx="43891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ptos"/>
              </a:defRPr>
            </a:pPr>
            <a:r>
              <a:t>Database tables, uploaded media, emails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69080" y="2423160"/>
            <a:ext cx="0" cy="32004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69080" y="3886200"/>
            <a:ext cx="0" cy="32004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98079" y="1325880"/>
            <a:ext cx="3657600" cy="3886200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1536192"/>
            <a:ext cx="22860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Tools used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1938528"/>
            <a:ext cx="1536192" cy="34747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0" b="1">
                <a:solidFill>
                  <a:srgbClr val="F8FAFC"/>
                </a:solidFill>
                <a:latin typeface="Aptos"/>
              </a:defRPr>
            </a:pPr>
            <a:r>
              <a:t>Django REST Framework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1938528"/>
            <a:ext cx="1536192" cy="3474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0" b="1">
                <a:solidFill>
                  <a:srgbClr val="0F172A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2414016"/>
            <a:ext cx="1536192" cy="34747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0" b="1">
                <a:solidFill>
                  <a:srgbClr val="F8FAFC"/>
                </a:solidFill>
                <a:latin typeface="Aptos"/>
              </a:defRPr>
            </a:pPr>
            <a:r>
              <a:t>Tailwind CSS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2600" y="2414016"/>
            <a:ext cx="1536192" cy="3474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0" b="1">
                <a:solidFill>
                  <a:srgbClr val="0F172A"/>
                </a:solidFill>
                <a:latin typeface="Aptos"/>
              </a:defRPr>
            </a:pPr>
            <a:r>
              <a:t>JWT Authentication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79" y="2889504"/>
            <a:ext cx="1536192" cy="34747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0" b="1">
                <a:solidFill>
                  <a:srgbClr val="F8FAFC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72600" y="2889504"/>
            <a:ext cx="1536192" cy="3474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0" b="1">
                <a:solidFill>
                  <a:srgbClr val="0F172A"/>
                </a:solidFill>
                <a:latin typeface="Aptos"/>
              </a:defRPr>
            </a:pPr>
            <a:r>
              <a:t>Gmail SMTP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6679" y="3364992"/>
            <a:ext cx="1536192" cy="34747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0" b="1">
                <a:solidFill>
                  <a:srgbClr val="F8FAFC"/>
                </a:solidFill>
                <a:latin typeface="Aptos"/>
              </a:defRPr>
            </a:pPr>
            <a:r>
              <a:t>Scrum Agile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3611880"/>
            <a:ext cx="31546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3867912"/>
            <a:ext cx="310896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ptos"/>
              </a:defRPr>
            </a:pPr>
            <a:r>
              <a:t>Scrum-based development with iterative delivery and continuous adaptation.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400800"/>
            <a:ext cx="11155680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ptos"/>
              </a:defRPr>
            </a:pPr>
            <a:r>
              <a:t>Learn 2 Drive | BIS Graduation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Aptos"/>
              </a:defRPr>
            </a:pPr>
            <a:r>
              <a:t>11</a:t>
            </a:r>
          </a:p>
        </p:txBody>
      </p:sp>
    </p:spTree>
  </p:cSld>
  <p:transition advClick="1" spd="med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20040"/>
            <a:ext cx="73152" cy="6080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365760"/>
            <a:ext cx="2743200" cy="2743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846320"/>
            <a:ext cx="2194560" cy="21945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7548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Implementation Highlights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ptos"/>
              </a:defRPr>
            </a:pPr>
            <a:r>
              <a:t>The report shows the system through live screens and code-level screenshots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417320"/>
            <a:ext cx="5175504" cy="1261872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0976" y="1581912"/>
            <a:ext cx="658368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504" y="1536192"/>
            <a:ext cx="21945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Custom 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46504" y="1828800"/>
            <a:ext cx="38404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20" b="0">
                <a:solidFill>
                  <a:srgbClr val="CBD5E1"/>
                </a:solidFill>
                <a:latin typeface="Aptos"/>
              </a:defRPr>
            </a:pPr>
            <a:r>
              <a:t>Role-based user model and JWT login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1417320"/>
            <a:ext cx="5175504" cy="1261872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10528" y="1581912"/>
            <a:ext cx="658368" cy="29260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6056" y="1536192"/>
            <a:ext cx="21945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Public browsing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6056" y="1828800"/>
            <a:ext cx="38404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20" b="0">
                <a:solidFill>
                  <a:srgbClr val="CBD5E1"/>
                </a:solidFill>
                <a:latin typeface="Aptos"/>
              </a:defRPr>
            </a:pPr>
            <a:r>
              <a:t>Academy and course discovery with filters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2990088"/>
            <a:ext cx="5175504" cy="1261872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0976" y="3154680"/>
            <a:ext cx="658368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46504" y="3108960"/>
            <a:ext cx="21945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Booking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46504" y="3401568"/>
            <a:ext cx="38404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20" b="0">
                <a:solidFill>
                  <a:srgbClr val="CBD5E1"/>
                </a:solidFill>
                <a:latin typeface="Aptos"/>
              </a:defRPr>
            </a:pPr>
            <a:r>
              <a:t>Trainer selection, date picking, slot control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2990088"/>
            <a:ext cx="5175504" cy="1261872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10528" y="3154680"/>
            <a:ext cx="658368" cy="29260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6056" y="3108960"/>
            <a:ext cx="21945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Approval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6056" y="3401568"/>
            <a:ext cx="38404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20" b="0">
                <a:solidFill>
                  <a:srgbClr val="CBD5E1"/>
                </a:solidFill>
                <a:latin typeface="Aptos"/>
              </a:defRPr>
            </a:pPr>
            <a:r>
              <a:t>Admin review before course publication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" y="4553712"/>
            <a:ext cx="10378440" cy="914400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4736592"/>
            <a:ext cx="22860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Implementation stack seen in the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645152"/>
            <a:ext cx="6949440" cy="42062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ts val="1188"/>
              </a:lnSpc>
              <a:defRPr sz="1080">
                <a:solidFill>
                  <a:srgbClr val="CBD5E1"/>
                </a:solidFill>
                <a:latin typeface="Aptos"/>
              </a:defRPr>
            </a:pPr>
            <a:r>
              <a:t>• Django models, serializers, signals, permissions, URLs, and views</a:t>
            </a:r>
          </a:p>
          <a:p>
            <a:pPr>
              <a:lnSpc>
                <a:spcPts val="1188"/>
              </a:lnSpc>
              <a:defRPr sz="1080">
                <a:solidFill>
                  <a:srgbClr val="CBD5E1"/>
                </a:solidFill>
                <a:latin typeface="Aptos"/>
              </a:defRPr>
            </a:pPr>
            <a:r>
              <a:t>• React pages, routing, Axios token handling, and protected routes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00800"/>
            <a:ext cx="11155680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ptos"/>
              </a:defRPr>
            </a:pPr>
            <a:r>
              <a:t>Learn 2 Drive | BIS Graduation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Aptos"/>
              </a:defRPr>
            </a:pPr>
            <a:r>
              <a:t>12</a:t>
            </a:r>
          </a:p>
        </p:txBody>
      </p:sp>
    </p:spTree>
  </p:cSld>
  <p:transition advClick="1" spd="med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20040"/>
            <a:ext cx="73152" cy="6080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365760"/>
            <a:ext cx="2743200" cy="2743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846320"/>
            <a:ext cx="2194560" cy="21945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7548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Key Technical Challenges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ptos"/>
              </a:defRPr>
            </a:pPr>
            <a:r>
              <a:t>The hardest parts were mostly around state, constraints, and workflow integrity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1417320"/>
            <a:ext cx="4983480" cy="14630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1536192"/>
            <a:ext cx="868680" cy="292608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6816" y="1527048"/>
            <a:ext cx="201168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Availability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74520"/>
            <a:ext cx="4572000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20" b="0">
                <a:solidFill>
                  <a:srgbClr val="CBD5E1"/>
                </a:solidFill>
                <a:latin typeface="Aptos"/>
              </a:defRPr>
            </a:pPr>
            <a:r>
              <a:t>Trainer working days and session windows had to be checked before booking.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4983480" cy="14630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82512" y="1536192"/>
            <a:ext cx="86868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527048"/>
            <a:ext cx="201168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Slot uniqueness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874520"/>
            <a:ext cx="4572000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20" b="0">
                <a:solidFill>
                  <a:srgbClr val="CBD5E1"/>
                </a:solidFill>
                <a:latin typeface="Aptos"/>
              </a:defRPr>
            </a:pPr>
            <a:r>
              <a:t>Confirmed bookings needed a unique time slot constraint per trainer.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" y="3200400"/>
            <a:ext cx="4983480" cy="14630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3319272"/>
            <a:ext cx="868680" cy="29260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3310128"/>
            <a:ext cx="201168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Role protection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657600"/>
            <a:ext cx="4572000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20" b="0">
                <a:solidFill>
                  <a:srgbClr val="CBD5E1"/>
                </a:solidFill>
                <a:latin typeface="Aptos"/>
              </a:defRPr>
            </a:pPr>
            <a:r>
              <a:t>Different users needed different routes, permissions, and UI access.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200400"/>
            <a:ext cx="4983480" cy="14630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82512" y="3319272"/>
            <a:ext cx="868680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310128"/>
            <a:ext cx="201168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Workflow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657600"/>
            <a:ext cx="4572000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20" b="0">
                <a:solidFill>
                  <a:srgbClr val="CBD5E1"/>
                </a:solidFill>
                <a:latin typeface="Aptos"/>
              </a:defRPr>
            </a:pPr>
            <a:r>
              <a:t>Approval emails and status updates had to happen consistently.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394960"/>
            <a:ext cx="103327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Aptos"/>
              </a:defRPr>
            </a:pPr>
            <a:r>
              <a:t>The report indicates these problems were solved in the final system through validation, constraints, and backend automation.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00800"/>
            <a:ext cx="11155680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ptos"/>
              </a:defRPr>
            </a:pPr>
            <a:r>
              <a:t>Learn 2 Drive | BIS Graduation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Aptos"/>
              </a:defRPr>
            </a:pPr>
            <a:r>
              <a:t>13</a:t>
            </a:r>
          </a:p>
        </p:txBody>
      </p:sp>
    </p:spTree>
  </p:cSld>
  <p:transition advClick="1" spd="med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20040"/>
            <a:ext cx="73152" cy="6080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365760"/>
            <a:ext cx="2743200" cy="2743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846320"/>
            <a:ext cx="2194560" cy="21945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7548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Testing Results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ptos"/>
              </a:defRPr>
            </a:pPr>
            <a:r>
              <a:t>All 47 documented test cases passed successfully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371600"/>
            <a:ext cx="2468880" cy="10972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481328"/>
            <a:ext cx="2139696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Pass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700784"/>
            <a:ext cx="213969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47/47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194560"/>
            <a:ext cx="213969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100% successful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371600"/>
            <a:ext cx="2468880" cy="10972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481328"/>
            <a:ext cx="2139696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700784"/>
            <a:ext cx="213969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Manual +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194560"/>
            <a:ext cx="213969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REST Client and UI 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371600"/>
            <a:ext cx="2468880" cy="10972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481328"/>
            <a:ext cx="2139696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700784"/>
            <a:ext cx="213969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Auth → Reviews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194560"/>
            <a:ext cx="213969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Core features validated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51392" y="1371600"/>
            <a:ext cx="1920240" cy="10972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984" y="1481328"/>
            <a:ext cx="1591056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1700784"/>
            <a:ext cx="159105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Stable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2194560"/>
            <a:ext cx="1591056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No critical gaps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" y="2743200"/>
            <a:ext cx="5394960" cy="28346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2944368"/>
            <a:ext cx="18288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Test 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3310128"/>
            <a:ext cx="4663440" cy="182880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ts val="1342"/>
              </a:lnSpc>
              <a:defRPr sz="1220">
                <a:solidFill>
                  <a:srgbClr val="CBD5E1"/>
                </a:solidFill>
                <a:latin typeface="Aptos"/>
              </a:defRPr>
            </a:pPr>
            <a:r>
              <a:t>• Authentication and account flows</a:t>
            </a:r>
          </a:p>
          <a:p>
            <a:pPr>
              <a:lnSpc>
                <a:spcPts val="1342"/>
              </a:lnSpc>
              <a:defRPr sz="1220">
                <a:solidFill>
                  <a:srgbClr val="CBD5E1"/>
                </a:solidFill>
                <a:latin typeface="Aptos"/>
              </a:defRPr>
            </a:pPr>
            <a:r>
              <a:t>• Academy registration and approval</a:t>
            </a:r>
          </a:p>
          <a:p>
            <a:pPr>
              <a:lnSpc>
                <a:spcPts val="1342"/>
              </a:lnSpc>
              <a:defRPr sz="1220">
                <a:solidFill>
                  <a:srgbClr val="CBD5E1"/>
                </a:solidFill>
                <a:latin typeface="Aptos"/>
              </a:defRPr>
            </a:pPr>
            <a:r>
              <a:t>• Public academy, trainer, and course APIs</a:t>
            </a:r>
          </a:p>
          <a:p>
            <a:pPr>
              <a:lnSpc>
                <a:spcPts val="1342"/>
              </a:lnSpc>
              <a:defRPr sz="1220">
                <a:solidFill>
                  <a:srgbClr val="CBD5E1"/>
                </a:solidFill>
                <a:latin typeface="Aptos"/>
              </a:defRPr>
            </a:pPr>
            <a:r>
              <a:t>• Booking creation and availability checks</a:t>
            </a:r>
          </a:p>
          <a:p>
            <a:pPr>
              <a:lnSpc>
                <a:spcPts val="1342"/>
              </a:lnSpc>
              <a:defRPr sz="1220">
                <a:solidFill>
                  <a:srgbClr val="CBD5E1"/>
                </a:solidFill>
                <a:latin typeface="Aptos"/>
              </a:defRPr>
            </a:pPr>
            <a:r>
              <a:t>• Academy dashboard endpoints</a:t>
            </a:r>
          </a:p>
          <a:p>
            <a:pPr>
              <a:lnSpc>
                <a:spcPts val="1342"/>
              </a:lnSpc>
              <a:defRPr sz="1220">
                <a:solidFill>
                  <a:srgbClr val="CBD5E1"/>
                </a:solidFill>
                <a:latin typeface="Aptos"/>
              </a:defRPr>
            </a:pPr>
            <a:r>
              <a:t>• Review and rating submission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2743200"/>
            <a:ext cx="4325112" cy="2834640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6832" y="2944368"/>
            <a:ext cx="18288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Validation 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2" y="3310128"/>
            <a:ext cx="3657600" cy="17830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ts val="1342"/>
              </a:lnSpc>
              <a:defRPr sz="1220">
                <a:solidFill>
                  <a:srgbClr val="CBD5E1"/>
                </a:solidFill>
                <a:latin typeface="Aptos"/>
              </a:defRPr>
            </a:pPr>
            <a:r>
              <a:t>• Positive and negative scenarios were both tested</a:t>
            </a:r>
          </a:p>
          <a:p>
            <a:pPr>
              <a:lnSpc>
                <a:spcPts val="1342"/>
              </a:lnSpc>
              <a:defRPr sz="1220">
                <a:solidFill>
                  <a:srgbClr val="CBD5E1"/>
                </a:solidFill>
                <a:latin typeface="Aptos"/>
              </a:defRPr>
            </a:pPr>
            <a:r>
              <a:t>• REST Client was used for direct API requests</a:t>
            </a:r>
          </a:p>
          <a:p>
            <a:pPr>
              <a:lnSpc>
                <a:spcPts val="1342"/>
              </a:lnSpc>
              <a:defRPr sz="1220">
                <a:solidFill>
                  <a:srgbClr val="CBD5E1"/>
                </a:solidFill>
                <a:latin typeface="Aptos"/>
              </a:defRPr>
            </a:pPr>
            <a:r>
              <a:t>• Frontend flows were checked manually in the browser</a:t>
            </a:r>
          </a:p>
          <a:p>
            <a:pPr>
              <a:lnSpc>
                <a:spcPts val="1342"/>
              </a:lnSpc>
              <a:defRPr sz="1220">
                <a:solidFill>
                  <a:srgbClr val="CBD5E1"/>
                </a:solidFill>
                <a:latin typeface="Aptos"/>
              </a:defRPr>
            </a:pPr>
            <a:r>
              <a:t>• Results confirmed correct status codes and messages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400800"/>
            <a:ext cx="11155680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ptos"/>
              </a:defRPr>
            </a:pPr>
            <a:r>
              <a:t>Learn 2 Drive | BIS Graduation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Aptos"/>
              </a:defRPr>
            </a:pPr>
            <a:r>
              <a:t>14</a:t>
            </a:r>
          </a:p>
        </p:txBody>
      </p:sp>
    </p:spTree>
  </p:cSld>
  <p:transition advClick="1" spd="med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20040"/>
            <a:ext cx="73152" cy="6080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365760"/>
            <a:ext cx="2743200" cy="2743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846320"/>
            <a:ext cx="2194560" cy="21945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7548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Conclusion &amp; Future Work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Aptos"/>
              </a:defRPr>
            </a:pPr>
            <a:r>
              <a:t>The project is ready for defense, with a clear roadmap for the next phase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371600"/>
            <a:ext cx="5349240" cy="45262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591056"/>
            <a:ext cx="20116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920240"/>
            <a:ext cx="4572000" cy="35204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ts val="1386"/>
              </a:lnSpc>
              <a:defRPr sz="1260">
                <a:solidFill>
                  <a:srgbClr val="CBD5E1"/>
                </a:solidFill>
                <a:latin typeface="Aptos"/>
              </a:defRPr>
            </a:pPr>
            <a:r>
              <a:t>• Solves the lack of a centralized driving academy marketplace</a:t>
            </a:r>
          </a:p>
          <a:p>
            <a:pPr>
              <a:lnSpc>
                <a:spcPts val="1386"/>
              </a:lnSpc>
              <a:defRPr sz="1260">
                <a:solidFill>
                  <a:srgbClr val="CBD5E1"/>
                </a:solidFill>
                <a:latin typeface="Aptos"/>
              </a:defRPr>
            </a:pPr>
            <a:r>
              <a:t>• Delivers a full web system built with Django REST and React</a:t>
            </a:r>
          </a:p>
          <a:p>
            <a:pPr>
              <a:lnSpc>
                <a:spcPts val="1386"/>
              </a:lnSpc>
              <a:defRPr sz="1260">
                <a:solidFill>
                  <a:srgbClr val="CBD5E1"/>
                </a:solidFill>
                <a:latin typeface="Aptos"/>
              </a:defRPr>
            </a:pPr>
            <a:r>
              <a:t>• Includes secure authentication, approvals, bookings, and reviews</a:t>
            </a:r>
          </a:p>
          <a:p>
            <a:pPr>
              <a:lnSpc>
                <a:spcPts val="1386"/>
              </a:lnSpc>
              <a:defRPr sz="1260">
                <a:solidFill>
                  <a:srgbClr val="CBD5E1"/>
                </a:solidFill>
                <a:latin typeface="Aptos"/>
              </a:defRPr>
            </a:pPr>
            <a:r>
              <a:t>• Passed all 47 documented test cases</a:t>
            </a:r>
          </a:p>
          <a:p>
            <a:pPr>
              <a:lnSpc>
                <a:spcPts val="1386"/>
              </a:lnSpc>
              <a:defRPr sz="1260">
                <a:solidFill>
                  <a:srgbClr val="CBD5E1"/>
                </a:solidFill>
                <a:latin typeface="Aptos"/>
              </a:defRPr>
            </a:pPr>
            <a:r>
              <a:t>• Shows a viable business path with Month 8 profitability and Year 1 break-even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4370832" cy="4526280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591056"/>
            <a:ext cx="20116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920240"/>
            <a:ext cx="3749039" cy="32461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ts val="1309"/>
              </a:lnSpc>
              <a:defRPr sz="1190">
                <a:solidFill>
                  <a:srgbClr val="CBD5E1"/>
                </a:solidFill>
                <a:latin typeface="Aptos"/>
              </a:defRPr>
            </a:pPr>
            <a:r>
              <a:t>• Online payment integration</a:t>
            </a:r>
          </a:p>
          <a:p>
            <a:pPr>
              <a:lnSpc>
                <a:spcPts val="1309"/>
              </a:lnSpc>
              <a:defRPr sz="1190">
                <a:solidFill>
                  <a:srgbClr val="CBD5E1"/>
                </a:solidFill>
                <a:latin typeface="Aptos"/>
              </a:defRPr>
            </a:pPr>
            <a:r>
              <a:t>• iOS and Android mobile apps</a:t>
            </a:r>
          </a:p>
          <a:p>
            <a:pPr>
              <a:lnSpc>
                <a:spcPts val="1309"/>
              </a:lnSpc>
              <a:defRPr sz="1190">
                <a:solidFill>
                  <a:srgbClr val="CBD5E1"/>
                </a:solidFill>
                <a:latin typeface="Aptos"/>
              </a:defRPr>
            </a:pPr>
            <a:r>
              <a:t>• Trainer self-registration portal</a:t>
            </a:r>
          </a:p>
          <a:p>
            <a:pPr>
              <a:lnSpc>
                <a:spcPts val="1309"/>
              </a:lnSpc>
              <a:defRPr sz="1190">
                <a:solidFill>
                  <a:srgbClr val="CBD5E1"/>
                </a:solidFill>
                <a:latin typeface="Aptos"/>
              </a:defRPr>
            </a:pPr>
            <a:r>
              <a:t>• Advanced analytics dashboard</a:t>
            </a:r>
          </a:p>
          <a:p>
            <a:pPr>
              <a:lnSpc>
                <a:spcPts val="1309"/>
              </a:lnSpc>
              <a:defRPr sz="1190">
                <a:solidFill>
                  <a:srgbClr val="CBD5E1"/>
                </a:solidFill>
                <a:latin typeface="Aptos"/>
              </a:defRPr>
            </a:pPr>
            <a:r>
              <a:t>• In-app messaging and AI recommendations</a:t>
            </a:r>
          </a:p>
          <a:p>
            <a:pPr>
              <a:lnSpc>
                <a:spcPts val="1309"/>
              </a:lnSpc>
              <a:defRPr sz="1190">
                <a:solidFill>
                  <a:srgbClr val="CBD5E1"/>
                </a:solidFill>
                <a:latin typeface="Aptos"/>
              </a:defRPr>
            </a:pPr>
            <a:r>
              <a:t>• PostgreSQL production migration and multilingual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00800"/>
            <a:ext cx="11155680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ptos"/>
              </a:defRPr>
            </a:pPr>
            <a:r>
              <a:t>Learn 2 Drive | BIS Graduation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Aptos"/>
              </a:defRPr>
            </a:pPr>
            <a:r>
              <a:t>15</a:t>
            </a:r>
          </a:p>
        </p:txBody>
      </p:sp>
    </p:spTree>
  </p:cSld>
  <p:transition advClick="1" spd="med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20040"/>
            <a:ext cx="73152" cy="6080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365760"/>
            <a:ext cx="2743200" cy="2743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846320"/>
            <a:ext cx="2194560" cy="21945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12064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331720"/>
            <a:ext cx="502920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063240"/>
            <a:ext cx="548640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Aptos"/>
              </a:defRPr>
            </a:pPr>
            <a:r>
              <a:t>Questions and discussion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828800"/>
            <a:ext cx="4206240" cy="2286000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8" y="2121408"/>
            <a:ext cx="36118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Aptos"/>
              </a:defRPr>
            </a:pPr>
            <a:r>
              <a:t>Learn 2 Drive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608" y="2578608"/>
            <a:ext cx="3474720" cy="91440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ts val="1375"/>
              </a:lnSpc>
              <a:defRPr sz="1250">
                <a:solidFill>
                  <a:srgbClr val="CBD5E1"/>
                </a:solidFill>
                <a:latin typeface="Aptos"/>
              </a:defRPr>
            </a:pPr>
            <a:r>
              <a:t>A digital platform for driving academy discovery and booking</a:t>
            </a:r>
          </a:p>
          <a:p>
            <a:pPr>
              <a:lnSpc>
                <a:spcPts val="1375"/>
              </a:lnSpc>
              <a:defRPr sz="1250">
                <a:solidFill>
                  <a:srgbClr val="CBD5E1"/>
                </a:solidFill>
                <a:latin typeface="Aptos"/>
              </a:defRPr>
            </a:pPr>
            <a:r>
              <a:t>2025–2026 Graduation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